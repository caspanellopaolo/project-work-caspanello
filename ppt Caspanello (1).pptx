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 snapToObjects="1">
      <p:cViewPr>
        <p:scale>
          <a:sx n="70" d="100"/>
          <a:sy n="70" d="100"/>
        </p:scale>
        <p:origin x="1834" y="3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161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18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502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366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997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88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975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545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58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226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5384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39085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854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it-IT" smtClean="0"/>
              <a:t>Fare clic per modificare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48766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it-IT" smtClean="0"/>
              <a:t>Fare clic per modificare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293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8386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735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7134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03907" y="579581"/>
            <a:ext cx="6199908" cy="3927763"/>
          </a:xfrm>
        </p:spPr>
        <p:txBody>
          <a:bodyPr>
            <a:normAutofit/>
          </a:bodyPr>
          <a:lstStyle/>
          <a:p>
            <a:pPr algn="ctr"/>
            <a:r>
              <a:rPr sz="3500" dirty="0"/>
              <a:t>Project </a:t>
            </a:r>
            <a:r>
              <a:rPr sz="3500" dirty="0" smtClean="0"/>
              <a:t>Work</a:t>
            </a:r>
            <a:r>
              <a:rPr lang="it-IT" sz="3500" dirty="0" smtClean="0"/>
              <a:t>:</a:t>
            </a:r>
            <a:endParaRPr sz="3500" dirty="0"/>
          </a:p>
          <a:p>
            <a:pPr algn="ctr"/>
            <a:r>
              <a:rPr sz="3500" dirty="0" err="1" smtClean="0"/>
              <a:t>attività</a:t>
            </a:r>
            <a:r>
              <a:rPr sz="3500" dirty="0" smtClean="0"/>
              <a:t> </a:t>
            </a:r>
            <a:r>
              <a:rPr sz="3500" dirty="0" err="1"/>
              <a:t>motoria</a:t>
            </a:r>
            <a:r>
              <a:rPr sz="3500" dirty="0"/>
              <a:t> </a:t>
            </a:r>
            <a:r>
              <a:rPr lang="it-IT" sz="3500" dirty="0" smtClean="0"/>
              <a:t>E </a:t>
            </a:r>
            <a:r>
              <a:rPr sz="3500" dirty="0" err="1" smtClean="0"/>
              <a:t>giovan</a:t>
            </a:r>
            <a:r>
              <a:rPr lang="it-IT" sz="3500" dirty="0" smtClean="0"/>
              <a:t>I: BENEFICI E OBIETTIVI</a:t>
            </a:r>
            <a:endParaRPr sz="35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4956850"/>
            <a:ext cx="4954250" cy="1913466"/>
          </a:xfrm>
        </p:spPr>
        <p:txBody>
          <a:bodyPr/>
          <a:lstStyle/>
          <a:p>
            <a:r>
              <a:rPr dirty="0" err="1"/>
              <a:t>Autore</a:t>
            </a:r>
            <a:r>
              <a:rPr dirty="0"/>
              <a:t>: </a:t>
            </a:r>
            <a:r>
              <a:rPr lang="it-IT" dirty="0" err="1" smtClean="0"/>
              <a:t>Caspanello</a:t>
            </a:r>
            <a:r>
              <a:rPr lang="it-IT" dirty="0" smtClean="0"/>
              <a:t> Paolo</a:t>
            </a:r>
          </a:p>
          <a:p>
            <a:r>
              <a:rPr lang="it-IT" dirty="0" smtClean="0"/>
              <a:t>Traccia 3.1</a:t>
            </a:r>
            <a:endParaRPr dirty="0"/>
          </a:p>
          <a:p>
            <a:r>
              <a:rPr dirty="0" err="1"/>
              <a:t>Docente</a:t>
            </a:r>
            <a:r>
              <a:rPr dirty="0"/>
              <a:t>: Prof. </a:t>
            </a:r>
            <a:r>
              <a:rPr dirty="0" err="1"/>
              <a:t>Pompilio</a:t>
            </a:r>
            <a:r>
              <a:rPr dirty="0"/>
              <a:t> </a:t>
            </a:r>
            <a:r>
              <a:rPr dirty="0" err="1" smtClean="0"/>
              <a:t>Cusano</a:t>
            </a:r>
            <a:endParaRPr dirty="0"/>
          </a:p>
        </p:txBody>
      </p:sp>
      <p:pic>
        <p:nvPicPr>
          <p:cNvPr id="8194" name="Picture 2" descr="File:Università pegaso - logo (Italy, 2025).svg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175" y="0"/>
            <a:ext cx="6702425" cy="2267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Introduzione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Il </a:t>
            </a:r>
            <a:r>
              <a:rPr dirty="0" err="1"/>
              <a:t>progetto</a:t>
            </a:r>
            <a:r>
              <a:rPr dirty="0"/>
              <a:t> </a:t>
            </a:r>
            <a:r>
              <a:rPr dirty="0" err="1"/>
              <a:t>analizza</a:t>
            </a:r>
            <a:r>
              <a:rPr dirty="0"/>
              <a:t> come </a:t>
            </a:r>
            <a:r>
              <a:rPr dirty="0" err="1"/>
              <a:t>l’attività</a:t>
            </a:r>
            <a:r>
              <a:rPr dirty="0"/>
              <a:t> </a:t>
            </a:r>
            <a:r>
              <a:rPr dirty="0" err="1"/>
              <a:t>motoria</a:t>
            </a:r>
            <a:r>
              <a:rPr dirty="0"/>
              <a:t> </a:t>
            </a:r>
            <a:r>
              <a:rPr dirty="0" err="1"/>
              <a:t>influisca</a:t>
            </a:r>
            <a:r>
              <a:rPr dirty="0"/>
              <a:t> </a:t>
            </a:r>
            <a:r>
              <a:rPr dirty="0" err="1"/>
              <a:t>sul</a:t>
            </a:r>
            <a:r>
              <a:rPr dirty="0"/>
              <a:t> </a:t>
            </a:r>
            <a:r>
              <a:rPr dirty="0" err="1"/>
              <a:t>benessere</a:t>
            </a:r>
            <a:r>
              <a:rPr dirty="0"/>
              <a:t> </a:t>
            </a:r>
            <a:r>
              <a:rPr dirty="0" err="1"/>
              <a:t>psicofisico</a:t>
            </a:r>
            <a:r>
              <a:rPr dirty="0"/>
              <a:t> </a:t>
            </a:r>
            <a:r>
              <a:rPr dirty="0" err="1"/>
              <a:t>nei</a:t>
            </a:r>
            <a:r>
              <a:rPr dirty="0"/>
              <a:t> </a:t>
            </a:r>
            <a:r>
              <a:rPr dirty="0" err="1"/>
              <a:t>giovani</a:t>
            </a:r>
            <a:r>
              <a:rPr dirty="0"/>
              <a:t> </a:t>
            </a:r>
            <a:r>
              <a:rPr dirty="0" err="1"/>
              <a:t>dai</a:t>
            </a:r>
            <a:r>
              <a:rPr dirty="0"/>
              <a:t> 6 </a:t>
            </a:r>
            <a:r>
              <a:rPr dirty="0" err="1"/>
              <a:t>ai</a:t>
            </a:r>
            <a:r>
              <a:rPr dirty="0"/>
              <a:t> 18 </a:t>
            </a:r>
            <a:r>
              <a:rPr dirty="0" err="1"/>
              <a:t>anni</a:t>
            </a:r>
            <a:r>
              <a:rPr dirty="0"/>
              <a:t>.</a:t>
            </a:r>
          </a:p>
          <a:p>
            <a:pPr algn="just"/>
            <a:r>
              <a:rPr dirty="0"/>
              <a:t>In un </a:t>
            </a:r>
            <a:r>
              <a:rPr dirty="0" err="1"/>
              <a:t>contesto</a:t>
            </a:r>
            <a:r>
              <a:rPr dirty="0"/>
              <a:t> </a:t>
            </a:r>
            <a:r>
              <a:rPr dirty="0" err="1"/>
              <a:t>caratterizzato</a:t>
            </a:r>
            <a:r>
              <a:rPr dirty="0"/>
              <a:t> da </a:t>
            </a:r>
            <a:r>
              <a:rPr dirty="0" err="1"/>
              <a:t>sedentarietà</a:t>
            </a:r>
            <a:r>
              <a:rPr dirty="0"/>
              <a:t>, </a:t>
            </a:r>
            <a:r>
              <a:rPr dirty="0" err="1"/>
              <a:t>uso</a:t>
            </a:r>
            <a:r>
              <a:rPr dirty="0"/>
              <a:t> </a:t>
            </a:r>
            <a:r>
              <a:rPr dirty="0" err="1"/>
              <a:t>eccessivo</a:t>
            </a:r>
            <a:r>
              <a:rPr dirty="0"/>
              <a:t> </a:t>
            </a:r>
            <a:r>
              <a:rPr dirty="0" err="1"/>
              <a:t>dei</a:t>
            </a:r>
            <a:r>
              <a:rPr dirty="0"/>
              <a:t> </a:t>
            </a:r>
            <a:r>
              <a:rPr dirty="0" err="1"/>
              <a:t>dispositivi</a:t>
            </a:r>
            <a:r>
              <a:rPr dirty="0"/>
              <a:t> </a:t>
            </a:r>
            <a:r>
              <a:rPr dirty="0" err="1"/>
              <a:t>digitali</a:t>
            </a:r>
            <a:r>
              <a:rPr dirty="0"/>
              <a:t> e </a:t>
            </a:r>
            <a:r>
              <a:rPr dirty="0" err="1"/>
              <a:t>abitudini</a:t>
            </a:r>
            <a:r>
              <a:rPr dirty="0"/>
              <a:t> </a:t>
            </a:r>
            <a:r>
              <a:rPr dirty="0" err="1"/>
              <a:t>alimentari</a:t>
            </a:r>
            <a:r>
              <a:rPr dirty="0"/>
              <a:t> </a:t>
            </a:r>
            <a:r>
              <a:rPr dirty="0" err="1"/>
              <a:t>scorrette</a:t>
            </a:r>
            <a:r>
              <a:rPr dirty="0"/>
              <a:t>,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movimento</a:t>
            </a:r>
            <a:r>
              <a:rPr dirty="0"/>
              <a:t> </a:t>
            </a:r>
            <a:r>
              <a:rPr dirty="0" err="1"/>
              <a:t>diventa</a:t>
            </a:r>
            <a:r>
              <a:rPr dirty="0"/>
              <a:t> </a:t>
            </a:r>
            <a:r>
              <a:rPr dirty="0" err="1"/>
              <a:t>uno</a:t>
            </a:r>
            <a:r>
              <a:rPr dirty="0"/>
              <a:t> </a:t>
            </a:r>
            <a:r>
              <a:rPr dirty="0" err="1"/>
              <a:t>strumento</a:t>
            </a:r>
            <a:r>
              <a:rPr dirty="0"/>
              <a:t> </a:t>
            </a:r>
            <a:r>
              <a:rPr dirty="0" err="1"/>
              <a:t>fondamentale</a:t>
            </a:r>
            <a:r>
              <a:rPr dirty="0"/>
              <a:t> di </a:t>
            </a:r>
            <a:r>
              <a:rPr dirty="0" err="1"/>
              <a:t>prevenzione</a:t>
            </a:r>
            <a:r>
              <a:rPr dirty="0"/>
              <a:t> e </a:t>
            </a:r>
            <a:r>
              <a:rPr dirty="0" err="1"/>
              <a:t>crescita</a:t>
            </a:r>
            <a:r>
              <a:rPr dirty="0"/>
              <a:t> </a:t>
            </a:r>
            <a:r>
              <a:rPr dirty="0" err="1"/>
              <a:t>equilibrata</a:t>
            </a:r>
            <a:r>
              <a:rPr dirty="0"/>
              <a:t>.</a:t>
            </a:r>
          </a:p>
        </p:txBody>
      </p:sp>
      <p:pic>
        <p:nvPicPr>
          <p:cNvPr id="1026" name="Picture 2" descr="La piramide dell'attività motoria — Azienda USL di Bologn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540" y="3410260"/>
            <a:ext cx="1774824" cy="251024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Contesto Attuale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Sedentarietà e carenza di attività spontanea</a:t>
            </a:r>
          </a:p>
          <a:p>
            <a:r>
              <a:t>- Aumento uso smartphone e videogiochi</a:t>
            </a:r>
          </a:p>
          <a:p>
            <a:r>
              <a:t>- Incremento obesità infantile</a:t>
            </a:r>
          </a:p>
          <a:p>
            <a:r>
              <a:t>- Calo delle competenze sociali</a:t>
            </a:r>
          </a:p>
          <a:p>
            <a:r>
              <a:t>- Stress e ansia in età scolare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del Progetto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Giovani dai 6 ai 18 anni divisi in tre fasce:</a:t>
            </a:r>
          </a:p>
          <a:p>
            <a:endParaRPr/>
          </a:p>
          <a:p>
            <a:r>
              <a:t>- 6–10 anni → sviluppo motorio di base, gioco, coordinazione</a:t>
            </a:r>
          </a:p>
          <a:p>
            <a:r>
              <a:t>- 11–14 anni → crescita coordinativa, avviamento allo sport</a:t>
            </a:r>
          </a:p>
          <a:p>
            <a:r>
              <a:t>- 15–18 anni → potenziamento fisico, autonomia, stile di vita sano</a:t>
            </a:r>
          </a:p>
        </p:txBody>
      </p:sp>
      <p:pic>
        <p:nvPicPr>
          <p:cNvPr id="2050" name="Picture 2" descr="Target Logo, symbol, meaning, history, PNG, bra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2865" y="4693920"/>
            <a:ext cx="1357397" cy="763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Perché</a:t>
            </a:r>
            <a:r>
              <a:rPr dirty="0"/>
              <a:t> </a:t>
            </a:r>
            <a:r>
              <a:rPr dirty="0" err="1"/>
              <a:t>l’attività</a:t>
            </a:r>
            <a:r>
              <a:rPr dirty="0"/>
              <a:t> </a:t>
            </a:r>
            <a:r>
              <a:rPr dirty="0" err="1"/>
              <a:t>motoria</a:t>
            </a:r>
            <a:r>
              <a:rPr dirty="0"/>
              <a:t> è </a:t>
            </a:r>
            <a:r>
              <a:rPr dirty="0" err="1"/>
              <a:t>fondamentale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</a:t>
            </a:r>
            <a:r>
              <a:rPr dirty="0" err="1"/>
              <a:t>Rafforza</a:t>
            </a:r>
            <a:r>
              <a:rPr dirty="0"/>
              <a:t> </a:t>
            </a:r>
            <a:r>
              <a:rPr dirty="0" err="1"/>
              <a:t>cuore</a:t>
            </a:r>
            <a:r>
              <a:rPr dirty="0"/>
              <a:t>, </a:t>
            </a:r>
            <a:r>
              <a:rPr dirty="0" err="1"/>
              <a:t>muscoli</a:t>
            </a:r>
            <a:r>
              <a:rPr dirty="0"/>
              <a:t> e </a:t>
            </a:r>
            <a:r>
              <a:rPr dirty="0" err="1"/>
              <a:t>ossa</a:t>
            </a:r>
            <a:endParaRPr dirty="0"/>
          </a:p>
          <a:p>
            <a:r>
              <a:rPr dirty="0"/>
              <a:t>- </a:t>
            </a:r>
            <a:r>
              <a:rPr dirty="0" err="1"/>
              <a:t>Migliora</a:t>
            </a:r>
            <a:r>
              <a:rPr dirty="0"/>
              <a:t> </a:t>
            </a:r>
            <a:r>
              <a:rPr dirty="0" err="1"/>
              <a:t>postura</a:t>
            </a:r>
            <a:r>
              <a:rPr dirty="0"/>
              <a:t> e </a:t>
            </a:r>
            <a:r>
              <a:rPr dirty="0" err="1"/>
              <a:t>coordinazione</a:t>
            </a:r>
            <a:endParaRPr dirty="0"/>
          </a:p>
          <a:p>
            <a:r>
              <a:rPr dirty="0"/>
              <a:t>- </a:t>
            </a:r>
            <a:r>
              <a:rPr dirty="0" err="1"/>
              <a:t>Riduce</a:t>
            </a:r>
            <a:r>
              <a:rPr dirty="0"/>
              <a:t> </a:t>
            </a:r>
            <a:r>
              <a:rPr dirty="0" err="1"/>
              <a:t>ansia</a:t>
            </a:r>
            <a:r>
              <a:rPr dirty="0"/>
              <a:t> e stress</a:t>
            </a:r>
          </a:p>
          <a:p>
            <a:r>
              <a:rPr dirty="0"/>
              <a:t>- </a:t>
            </a:r>
            <a:r>
              <a:rPr dirty="0" err="1"/>
              <a:t>Aumenta</a:t>
            </a:r>
            <a:r>
              <a:rPr dirty="0"/>
              <a:t> </a:t>
            </a:r>
            <a:r>
              <a:rPr dirty="0" err="1"/>
              <a:t>autostima</a:t>
            </a:r>
            <a:r>
              <a:rPr dirty="0"/>
              <a:t> e </a:t>
            </a:r>
            <a:r>
              <a:rPr dirty="0" err="1"/>
              <a:t>motivazione</a:t>
            </a:r>
            <a:endParaRPr dirty="0"/>
          </a:p>
          <a:p>
            <a:r>
              <a:rPr dirty="0"/>
              <a:t>- </a:t>
            </a:r>
            <a:r>
              <a:rPr dirty="0" err="1"/>
              <a:t>Favorisce</a:t>
            </a:r>
            <a:r>
              <a:rPr dirty="0"/>
              <a:t> la </a:t>
            </a:r>
            <a:r>
              <a:rPr dirty="0" err="1"/>
              <a:t>socializzazione</a:t>
            </a:r>
            <a:endParaRPr dirty="0"/>
          </a:p>
        </p:txBody>
      </p:sp>
      <p:pic>
        <p:nvPicPr>
          <p:cNvPr id="3074" name="Picture 2" descr="Movimento: i principali benefici sul nostro benessere fisico e psichico -  Apoteca Natur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0535" y="1410017"/>
            <a:ext cx="2619375" cy="174307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Tabella 1 – Benefici dell’attività motoria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71500">
                <a:tc>
                  <a:txBody>
                    <a:bodyPr/>
                    <a:lstStyle/>
                    <a:p>
                      <a:r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Benefici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Esempi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Fisica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Resistenza, postura, peso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Corsa, circuiti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Psicologica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Autostima, calma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Yoga, sport di squadra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Sociale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Cooperazione, regole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Team sport, giochi motori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4076700"/>
            <a:ext cx="6554867" cy="1524000"/>
          </a:xfrm>
        </p:spPr>
        <p:txBody>
          <a:bodyPr/>
          <a:lstStyle/>
          <a:p>
            <a:r>
              <a:rPr dirty="0" err="1"/>
              <a:t>Metodologie</a:t>
            </a:r>
            <a:r>
              <a:rPr dirty="0"/>
              <a:t> di </a:t>
            </a:r>
            <a:r>
              <a:rPr dirty="0" err="1"/>
              <a:t>Allenamento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Il progetto integra diverse tipologie di allenamento per rendere l’attività varia e motivante:</a:t>
            </a:r>
          </a:p>
          <a:p>
            <a:r>
              <a:t>- Aerobico</a:t>
            </a:r>
          </a:p>
          <a:p>
            <a:r>
              <a:t>- Forza</a:t>
            </a:r>
          </a:p>
          <a:p>
            <a:r>
              <a:t>- Mobilità e flessibilità</a:t>
            </a:r>
          </a:p>
          <a:p>
            <a:r>
              <a:t>- Mente-corpo</a:t>
            </a:r>
          </a:p>
          <a:p>
            <a:r>
              <a:t>- Attività ludico-motorie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328160"/>
            <a:ext cx="6554867" cy="1524000"/>
          </a:xfrm>
        </p:spPr>
        <p:txBody>
          <a:bodyPr/>
          <a:lstStyle/>
          <a:p>
            <a:r>
              <a:rPr dirty="0" err="1"/>
              <a:t>Tabella</a:t>
            </a:r>
            <a:r>
              <a:rPr dirty="0"/>
              <a:t> 2 – </a:t>
            </a:r>
            <a:r>
              <a:rPr dirty="0" err="1"/>
              <a:t>Confronto</a:t>
            </a:r>
            <a:r>
              <a:rPr dirty="0"/>
              <a:t> </a:t>
            </a:r>
            <a:r>
              <a:rPr dirty="0" err="1"/>
              <a:t>Metodologie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8321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80"/>
                <a:gridCol w="2773680"/>
                <a:gridCol w="2773680"/>
              </a:tblGrid>
              <a:tr h="548640">
                <a:tc>
                  <a:txBody>
                    <a:bodyPr/>
                    <a:lstStyle/>
                    <a:p>
                      <a:r>
                        <a:t>Metodo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Obiettivi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Esempi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Aerobico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Resistenza, umore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Corsa, jumping jack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Forza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Postura, tono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Corpo libero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Mente-corpo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Calma, concentrazione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Yoga, breathing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Ludico-motorio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Motivazione, socialità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Percorsi, giochi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Approcci Educativi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Educazione fisica scolastica</a:t>
            </a:r>
          </a:p>
          <a:p>
            <a:r>
              <a:t>- Sport come strumento educativo</a:t>
            </a:r>
          </a:p>
          <a:p>
            <a:r>
              <a:t>- Giochi motori per integrazione e socialità</a:t>
            </a:r>
          </a:p>
          <a:p>
            <a:r>
              <a:t>- Metodo cooperativo e partecipativo</a:t>
            </a:r>
          </a:p>
        </p:txBody>
      </p:sp>
      <p:pic>
        <p:nvPicPr>
          <p:cNvPr id="4098" name="Picture 2" descr="Crescere Insieme con lo Sport -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7699" y="4221480"/>
            <a:ext cx="2345844" cy="168833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4 Fasi del Progetto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Il progetto è articolato in 4 fasi fondamentali:</a:t>
            </a:r>
          </a:p>
          <a:p>
            <a:r>
              <a:t>1. Fase diagnostica</a:t>
            </a:r>
          </a:p>
          <a:p>
            <a:r>
              <a:t>2. Fase di progettazione</a:t>
            </a:r>
          </a:p>
          <a:p>
            <a:r>
              <a:t>3. Fase operativa (12 settimane)</a:t>
            </a:r>
          </a:p>
          <a:p>
            <a:r>
              <a:t>4. Fase di valutazione finale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 1 – Diagnostica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Test motori iniziali</a:t>
            </a:r>
          </a:p>
          <a:p>
            <a:r>
              <a:t>- Questionari benessere</a:t>
            </a:r>
          </a:p>
          <a:p>
            <a:r>
              <a:t>- Analisi abitudini alimentari e sedentarie</a:t>
            </a:r>
          </a:p>
          <a:p>
            <a:r>
              <a:t>- Colloqui motivazionali con famiglie e studenti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Tabella 3 – Test Iniziali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8229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93776">
                <a:tc>
                  <a:txBody>
                    <a:bodyPr/>
                    <a:lstStyle/>
                    <a:p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Obiettivo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Cosa misura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t>Test Cooper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Resistenza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Capacità aerobica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t>Squat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Forza arti inferiori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Numero ripetizioni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t>Balance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Equilibrio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Tempo mantenuto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t>BMI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Stato ponderale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Peso/altezza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 2 – Progettazione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Definizione calendario</a:t>
            </a:r>
          </a:p>
          <a:p>
            <a:r>
              <a:t>- Scelta metodologie</a:t>
            </a:r>
          </a:p>
          <a:p>
            <a:r>
              <a:t>- Strutturazione attività per fasce d’età</a:t>
            </a:r>
          </a:p>
          <a:p>
            <a:r>
              <a:t>- Obiettivi individuali e di gruppo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 3 – Intervento (12 settimane)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Ogni settimana:</a:t>
            </a:r>
          </a:p>
          <a:p>
            <a:r>
              <a:t>- 1 sessione aerobica</a:t>
            </a:r>
          </a:p>
          <a:p>
            <a:r>
              <a:t>- 1 sessione di forza</a:t>
            </a:r>
          </a:p>
          <a:p>
            <a:r>
              <a:t>- 1 sessione mente-corpo</a:t>
            </a:r>
          </a:p>
          <a:p>
            <a:r>
              <a:t>- 1 attività ludico-motoria e cooperativa</a:t>
            </a:r>
          </a:p>
          <a:p>
            <a:r>
              <a:t>Durata settimanale totale: 3–4 ore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Struttura Sessione Tipo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Riscaldamento (5–10 min)</a:t>
            </a:r>
          </a:p>
          <a:p>
            <a:r>
              <a:t>2. Parte tecnica/aerobica (20–30 min)</a:t>
            </a:r>
          </a:p>
          <a:p>
            <a:r>
              <a:t>3. Potenziamento o coordinazione (10–15 min)</a:t>
            </a:r>
          </a:p>
          <a:p>
            <a:r>
              <a:t>4. Defaticamento (5–8 min)</a:t>
            </a:r>
          </a:p>
          <a:p>
            <a:r>
              <a:t>5. Debrief educativo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 4 – Valutazione Finale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Test motori post-intervento</a:t>
            </a:r>
          </a:p>
          <a:p>
            <a:r>
              <a:t>- Questionari benessere</a:t>
            </a:r>
          </a:p>
          <a:p>
            <a:r>
              <a:t>- Osservazioni educative</a:t>
            </a:r>
          </a:p>
          <a:p>
            <a:r>
              <a:t>- Confronto pre–post</a:t>
            </a:r>
          </a:p>
        </p:txBody>
      </p:sp>
      <p:pic>
        <p:nvPicPr>
          <p:cNvPr id="5122" name="Picture 2" descr="Valutazione: come, quando e perché | Rizzoli Educ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696720"/>
            <a:ext cx="2712720" cy="165608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Tabella 4 – Indicatori Finali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8229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93776">
                <a:tc>
                  <a:txBody>
                    <a:bodyPr/>
                    <a:lstStyle/>
                    <a:p>
                      <a:r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Indicatore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Misurazione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t>Fisica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Resistenza/forza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Test pre-post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t>Psicologica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Stress/autostima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Questionari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t>Sociale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Collaborazione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Osservazioni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t>Partecipazione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Presenze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Registro attività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Sostenibilità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Inserimento nel PTOF scolastico</a:t>
            </a:r>
          </a:p>
          <a:p>
            <a:r>
              <a:t>- Formazione docenti</a:t>
            </a:r>
          </a:p>
          <a:p>
            <a:r>
              <a:t>- Collaborazione con enti sportivi</a:t>
            </a:r>
          </a:p>
          <a:p>
            <a:r>
              <a:t>- Attività continuativa durante l’anno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Conclusioni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Il </a:t>
            </a:r>
            <a:r>
              <a:rPr dirty="0" err="1"/>
              <a:t>progetto</a:t>
            </a:r>
            <a:r>
              <a:rPr dirty="0"/>
              <a:t> </a:t>
            </a:r>
            <a:r>
              <a:rPr dirty="0" err="1"/>
              <a:t>integra</a:t>
            </a:r>
            <a:r>
              <a:rPr dirty="0"/>
              <a:t> </a:t>
            </a:r>
            <a:r>
              <a:rPr dirty="0" err="1"/>
              <a:t>movimento</a:t>
            </a:r>
            <a:r>
              <a:rPr dirty="0"/>
              <a:t>, </a:t>
            </a:r>
            <a:r>
              <a:rPr dirty="0" err="1"/>
              <a:t>educazione</a:t>
            </a:r>
            <a:r>
              <a:rPr dirty="0"/>
              <a:t> e </a:t>
            </a:r>
            <a:r>
              <a:rPr dirty="0" err="1"/>
              <a:t>benessere</a:t>
            </a:r>
            <a:r>
              <a:rPr dirty="0"/>
              <a:t> </a:t>
            </a:r>
            <a:r>
              <a:rPr dirty="0" err="1"/>
              <a:t>psicologico</a:t>
            </a:r>
            <a:r>
              <a:rPr dirty="0"/>
              <a:t>.</a:t>
            </a:r>
          </a:p>
          <a:p>
            <a:r>
              <a:rPr dirty="0" err="1"/>
              <a:t>Promuove</a:t>
            </a:r>
            <a:r>
              <a:rPr dirty="0"/>
              <a:t> </a:t>
            </a:r>
            <a:r>
              <a:rPr dirty="0" err="1"/>
              <a:t>uno</a:t>
            </a:r>
            <a:r>
              <a:rPr dirty="0"/>
              <a:t> stile di vita </a:t>
            </a:r>
            <a:r>
              <a:rPr dirty="0" err="1"/>
              <a:t>sano</a:t>
            </a:r>
            <a:r>
              <a:rPr dirty="0"/>
              <a:t>, </a:t>
            </a:r>
            <a:r>
              <a:rPr dirty="0" err="1"/>
              <a:t>riduce</a:t>
            </a:r>
            <a:r>
              <a:rPr dirty="0"/>
              <a:t> la </a:t>
            </a:r>
            <a:r>
              <a:rPr dirty="0" err="1"/>
              <a:t>sedentarietà</a:t>
            </a:r>
            <a:r>
              <a:rPr dirty="0"/>
              <a:t> e </a:t>
            </a:r>
            <a:r>
              <a:rPr dirty="0" err="1"/>
              <a:t>migliora</a:t>
            </a:r>
            <a:r>
              <a:rPr dirty="0"/>
              <a:t> lo </a:t>
            </a:r>
            <a:r>
              <a:rPr dirty="0" err="1"/>
              <a:t>sviluppo</a:t>
            </a:r>
            <a:r>
              <a:rPr dirty="0"/>
              <a:t> </a:t>
            </a:r>
            <a:r>
              <a:rPr dirty="0" err="1"/>
              <a:t>globale</a:t>
            </a:r>
            <a:r>
              <a:rPr dirty="0"/>
              <a:t> </a:t>
            </a:r>
            <a:r>
              <a:rPr dirty="0" err="1"/>
              <a:t>dei</a:t>
            </a:r>
            <a:r>
              <a:rPr dirty="0"/>
              <a:t> </a:t>
            </a:r>
            <a:r>
              <a:rPr dirty="0" err="1"/>
              <a:t>giovani</a:t>
            </a:r>
            <a:r>
              <a:rPr dirty="0"/>
              <a:t>.</a:t>
            </a:r>
          </a:p>
          <a:p>
            <a:r>
              <a:rPr dirty="0"/>
              <a:t>È </a:t>
            </a:r>
            <a:r>
              <a:rPr dirty="0" err="1"/>
              <a:t>replicabile</a:t>
            </a:r>
            <a:r>
              <a:rPr dirty="0"/>
              <a:t> in </a:t>
            </a:r>
            <a:r>
              <a:rPr dirty="0" err="1"/>
              <a:t>scuole</a:t>
            </a:r>
            <a:r>
              <a:rPr dirty="0"/>
              <a:t>, </a:t>
            </a:r>
            <a:r>
              <a:rPr dirty="0" err="1"/>
              <a:t>associazioni</a:t>
            </a:r>
            <a:r>
              <a:rPr dirty="0"/>
              <a:t> sportive e </a:t>
            </a:r>
            <a:r>
              <a:rPr dirty="0" err="1"/>
              <a:t>contesti</a:t>
            </a:r>
            <a:r>
              <a:rPr dirty="0"/>
              <a:t> </a:t>
            </a:r>
            <a:r>
              <a:rPr dirty="0" err="1"/>
              <a:t>riabilitativi</a:t>
            </a:r>
            <a:r>
              <a:rPr dirty="0" smtClean="0"/>
              <a:t>.</a:t>
            </a:r>
            <a:endParaRPr lang="it-IT" dirty="0" smtClean="0"/>
          </a:p>
          <a:p>
            <a:endParaRPr lang="it-IT" dirty="0"/>
          </a:p>
          <a:p>
            <a:endParaRPr lang="it-IT" dirty="0" smtClean="0"/>
          </a:p>
          <a:p>
            <a:pPr marL="0" indent="0">
              <a:buNone/>
            </a:pPr>
            <a:r>
              <a:rPr lang="it-IT" b="1" dirty="0" smtClean="0"/>
              <a:t>GRAZIE PER L’ATTENZIONE!</a:t>
            </a:r>
            <a:endParaRPr b="1" dirty="0"/>
          </a:p>
        </p:txBody>
      </p:sp>
      <p:pic>
        <p:nvPicPr>
          <p:cNvPr id="7170" name="Picture 2" descr="1,4 milioni immagini, foto stock e illustrazioni esenti da diritti d'autore  a tema Conclusioni | Shutter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742" y="2904439"/>
            <a:ext cx="2311638" cy="16566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ezione">
  <a:themeElements>
    <a:clrScheme name="Sezione">
      <a:dk1>
        <a:sysClr val="windowText" lastClr="000000"/>
      </a:dk1>
      <a:lt1>
        <a:sysClr val="window" lastClr="FFFFFF"/>
      </a:lt1>
      <a:dk2>
        <a:srgbClr val="D06F1E"/>
      </a:dk2>
      <a:lt2>
        <a:srgbClr val="F0BE21"/>
      </a:lt2>
      <a:accent1>
        <a:srgbClr val="760603"/>
      </a:accent1>
      <a:accent2>
        <a:srgbClr val="9F761A"/>
      </a:accent2>
      <a:accent3>
        <a:srgbClr val="92A200"/>
      </a:accent3>
      <a:accent4>
        <a:srgbClr val="4AA157"/>
      </a:accent4>
      <a:accent5>
        <a:srgbClr val="46788D"/>
      </a:accent5>
      <a:accent6>
        <a:srgbClr val="A848A8"/>
      </a:accent6>
      <a:hlink>
        <a:srgbClr val="460402"/>
      </a:hlink>
      <a:folHlink>
        <a:srgbClr val="991111"/>
      </a:folHlink>
    </a:clrScheme>
    <a:fontScheme name="Personalizzato 1">
      <a:majorFont>
        <a:latin typeface="Garamond"/>
        <a:ea typeface=""/>
        <a:cs typeface=""/>
      </a:majorFont>
      <a:minorFont>
        <a:latin typeface="Times New Roman"/>
        <a:ea typeface=""/>
        <a:cs typeface=""/>
      </a:minorFont>
    </a:fontScheme>
    <a:fmtScheme name="Sezion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13</TotalTime>
  <Words>599</Words>
  <Application>Microsoft Office PowerPoint</Application>
  <PresentationFormat>Presentazione su schermo (4:3)</PresentationFormat>
  <Paragraphs>145</Paragraphs>
  <Slides>19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4" baseType="lpstr">
      <vt:lpstr>Arial</vt:lpstr>
      <vt:lpstr>Garamond</vt:lpstr>
      <vt:lpstr>Times New Roman</vt:lpstr>
      <vt:lpstr>Wingdings 3</vt:lpstr>
      <vt:lpstr>Sezione</vt:lpstr>
      <vt:lpstr>Project Work: attività motoria E giovanI: BENEFICI E OBIETTIVI</vt:lpstr>
      <vt:lpstr>Introduzione</vt:lpstr>
      <vt:lpstr>Contesto Attuale</vt:lpstr>
      <vt:lpstr>Target del Progetto</vt:lpstr>
      <vt:lpstr>Perché l’attività motoria è fondamentale?</vt:lpstr>
      <vt:lpstr>Tabella 1 – Benefici dell’attività motoria</vt:lpstr>
      <vt:lpstr>Metodologie di Allenamento</vt:lpstr>
      <vt:lpstr>Tabella 2 – Confronto Metodologie</vt:lpstr>
      <vt:lpstr>Approcci Educativi</vt:lpstr>
      <vt:lpstr>Le 4 Fasi del Progetto</vt:lpstr>
      <vt:lpstr>Fase 1 – Diagnostica</vt:lpstr>
      <vt:lpstr>Tabella 3 – Test Iniziali</vt:lpstr>
      <vt:lpstr>Fase 2 – Progettazione</vt:lpstr>
      <vt:lpstr>Fase 3 – Intervento (12 settimane)</vt:lpstr>
      <vt:lpstr>Struttura Sessione Tipo</vt:lpstr>
      <vt:lpstr>Fase 4 – Valutazione Finale</vt:lpstr>
      <vt:lpstr>Tabella 4 – Indicatori Finali</vt:lpstr>
      <vt:lpstr>Sostenibilità</vt:lpstr>
      <vt:lpstr>Conclusioni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Work: attività motoria E giovanI: BENEFICI E OBIETTIVI</dc:title>
  <dc:subject/>
  <dc:creator/>
  <cp:keywords/>
  <dc:description>generated using python-pptx</dc:description>
  <cp:lastModifiedBy>NB01</cp:lastModifiedBy>
  <cp:revision>5</cp:revision>
  <dcterms:created xsi:type="dcterms:W3CDTF">2013-01-27T09:14:16Z</dcterms:created>
  <dcterms:modified xsi:type="dcterms:W3CDTF">2025-11-16T04:11:30Z</dcterms:modified>
  <cp:category/>
</cp:coreProperties>
</file>